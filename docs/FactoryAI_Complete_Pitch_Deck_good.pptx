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2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7858CE-2E66-61B5-214F-2F71495300D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2223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- General Use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4EC98A"/>
                </a:solidFill>
              </a:defRPr>
            </a:pPr>
            <a:r>
              <a:t>FactoryAI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Autonomous AI Engineering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0AEC0"/>
                </a:solidFill>
              </a:defRPr>
            </a:pPr>
            <a:r>
              <a:t>Delivering Completed Engineering Work at Enterprise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0AEC0"/>
                </a:solidFill>
              </a:defRPr>
            </a:pPr>
            <a:r>
              <a:t>March 2026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EC98A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60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Software Engineering is Drowning in Manual Toil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70% of engineering time is spent on repetitive, low-value tasks (refactoring, migrations, boilerplate)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Large-scale modernization projects take months or years, blocking innovation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Technical debt accumulates faster than teams can address it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Security vulnerabilities remain unpatched due to resource constraints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Enterprise teams lack scalable automation - existing tools only suggest, they don't execute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Context switching between tools (IDE, CI/CD, Jira, Slack) destroys productivity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760720"/>
            <a:ext cx="11460175" cy="640080"/>
          </a:xfrm>
          <a:prstGeom prst="roundRect">
            <a:avLst/>
          </a:prstGeom>
          <a:solidFill>
            <a:srgbClr val="152535"/>
          </a:solidFill>
          <a:ln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897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EC98A"/>
                </a:solidFill>
              </a:defRPr>
            </a:pPr>
            <a:r>
              <a:t>Result: 40% of engineering capacity is consumed by maintenance, not innovation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EC98A"/>
                </a:solidFill>
              </a:defRPr>
            </a:pPr>
            <a:r>
              <a:t>The Solution: FactoryAI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60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The First Autonomous AI Engineering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3566160" cy="3200400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83080" y="1645920"/>
            <a:ext cx="731520" cy="731520"/>
          </a:xfrm>
          <a:prstGeom prst="ellipse">
            <a:avLst/>
          </a:prstGeom>
          <a:solidFill>
            <a:srgbClr val="4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83080" y="17373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D1B2A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Autonomous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A0AEC0"/>
                </a:solidFill>
              </a:defRPr>
            </a:pPr>
            <a:r>
              <a:t>Completes entire engineering tasks end-to-end, not suggestions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70% reduction in manual effort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463040"/>
            <a:ext cx="3566160" cy="3200400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00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623560" y="1645920"/>
            <a:ext cx="731520" cy="731520"/>
          </a:xfrm>
          <a:prstGeom prst="ellipse">
            <a:avLst/>
          </a:prstGeom>
          <a:solidFill>
            <a:srgbClr val="00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23560" y="17373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D1B2A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468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Enterprise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9260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A0AEC0"/>
                </a:solidFill>
              </a:defRPr>
            </a:pPr>
            <a:r>
              <a:t>Parallel execution across 50+ repositories simultaneously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1148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10x faster modernization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63040"/>
            <a:ext cx="3566160" cy="3200400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464040" y="164592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64040" y="17373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D1B2A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468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Native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9260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A0AEC0"/>
                </a:solidFill>
              </a:defRPr>
            </a:pPr>
            <a:r>
              <a:t>Works in IDE, CLI, Slack, Jira, CI/CD pipelines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1148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Zero workflow disruption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760720"/>
            <a:ext cx="11460175" cy="640080"/>
          </a:xfrm>
          <a:prstGeom prst="roundRect">
            <a:avLst/>
          </a:prstGeom>
          <a:solidFill>
            <a:srgbClr val="152535"/>
          </a:solidFill>
          <a:ln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5897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EC98A"/>
                </a:solidFill>
              </a:defRPr>
            </a:pPr>
            <a:r>
              <a:t>"FactoryAI doesn't suggest code - it delivers completed work."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EC98A"/>
                </a:solidFill>
              </a:defRPr>
            </a:pPr>
            <a:r>
              <a:t>How FactoryAI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60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From Task to Completed Work - Autonomously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777240"/>
          </a:xfrm>
          <a:prstGeom prst="roundRect">
            <a:avLst/>
          </a:prstGeom>
          <a:solidFill>
            <a:srgbClr val="1B263B"/>
          </a:solidFill>
          <a:ln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own Arrow 5"/>
          <p:cNvSpPr/>
          <p:nvPr/>
        </p:nvSpPr>
        <p:spPr>
          <a:xfrm>
            <a:off x="5852160" y="2148840"/>
            <a:ext cx="457200" cy="137160"/>
          </a:xfrm>
          <a:prstGeom prst="downArrow">
            <a:avLst/>
          </a:prstGeom>
          <a:solidFill>
            <a:srgbClr val="4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EC98A"/>
                </a:solidFill>
              </a:defRPr>
            </a:pPr>
            <a:r>
              <a:t>1. Receive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5087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Jira ticket, Slack message, or direct command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11064240" cy="777240"/>
          </a:xfrm>
          <a:prstGeom prst="roundRect">
            <a:avLst/>
          </a:prstGeom>
          <a:solidFill>
            <a:srgbClr val="1B263B"/>
          </a:solidFill>
          <a:ln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own Arrow 9"/>
          <p:cNvSpPr/>
          <p:nvPr/>
        </p:nvSpPr>
        <p:spPr>
          <a:xfrm>
            <a:off x="5852160" y="3017520"/>
            <a:ext cx="457200" cy="137160"/>
          </a:xfrm>
          <a:prstGeom prst="downArrow">
            <a:avLst/>
          </a:prstGeom>
          <a:solidFill>
            <a:srgbClr val="4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EC98A"/>
                </a:solidFill>
              </a:defRPr>
            </a:pPr>
            <a:r>
              <a:t>2. Analyze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774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Understands codebase, dependencies, patterns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08960"/>
            <a:ext cx="11064240" cy="777240"/>
          </a:xfrm>
          <a:prstGeom prst="roundRect">
            <a:avLst/>
          </a:prstGeom>
          <a:solidFill>
            <a:srgbClr val="1B263B"/>
          </a:solidFill>
          <a:ln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own Arrow 13"/>
          <p:cNvSpPr/>
          <p:nvPr/>
        </p:nvSpPr>
        <p:spPr>
          <a:xfrm>
            <a:off x="5852160" y="3886200"/>
            <a:ext cx="457200" cy="137160"/>
          </a:xfrm>
          <a:prstGeom prst="downArrow">
            <a:avLst/>
          </a:prstGeom>
          <a:solidFill>
            <a:srgbClr val="4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EC98A"/>
                </a:solidFill>
              </a:defRPr>
            </a:pPr>
            <a:r>
              <a:t>3. Execute Autonomously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2461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Makes changes across multiple files/repos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77639"/>
            <a:ext cx="11064240" cy="777240"/>
          </a:xfrm>
          <a:prstGeom prst="roundRect">
            <a:avLst/>
          </a:prstGeom>
          <a:solidFill>
            <a:srgbClr val="1B263B"/>
          </a:solidFill>
          <a:ln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5852160" y="4754879"/>
            <a:ext cx="457200" cy="137160"/>
          </a:xfrm>
          <a:prstGeom prst="downArrow">
            <a:avLst/>
          </a:prstGeom>
          <a:solidFill>
            <a:srgbClr val="4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EC98A"/>
                </a:solidFill>
              </a:defRPr>
            </a:pPr>
            <a:r>
              <a:t>4. Validate &amp;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1148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Runs tests, fixes failures automatically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46320"/>
            <a:ext cx="11064240" cy="777240"/>
          </a:xfrm>
          <a:prstGeom prst="roundRect">
            <a:avLst/>
          </a:prstGeom>
          <a:solidFill>
            <a:srgbClr val="1B263B"/>
          </a:solidFill>
          <a:ln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983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EC98A"/>
                </a:solidFill>
              </a:defRPr>
            </a:pPr>
            <a:r>
              <a:t>5. Deliver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9834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Creates PR with full context, updates Jira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EC98A"/>
                </a:solidFill>
              </a:defRPr>
            </a:pPr>
            <a:r>
              <a:t>Why FactoryAI - The Differentiated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60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What Makes FactoryAI Fundamentally Different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05F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AI Tools</a:t>
                      </a:r>
                    </a:p>
                  </a:txBody>
                  <a:tcPr>
                    <a:solidFill>
                      <a:srgbClr val="005F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FactoryAI Advantage</a:t>
                      </a:r>
                    </a:p>
                  </a:txBody>
                  <a:tcPr>
                    <a:solidFill>
                      <a:srgbClr val="005F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Task Completion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Suggest code snippets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Execute entire tasks autonomously end-to-end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Single file edits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Multi-file, multi-repo parallel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IDE plugins only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IDE + CLI + Slack + Jira + CI/CD native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Individual developer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Enterprise teams, 50+ concurrent repos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Model Lock-in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Single vendor (OpenAI/Anthropic)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Model-agnostic: GPT, Claude, Gemini, custom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Cloud-only SaaS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Cloud, on-premise, air-gapped options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Basic compliance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SOC-2, enterprise governance, Lineaje SBOM integration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5760720"/>
            <a:ext cx="11460175" cy="640080"/>
          </a:xfrm>
          <a:prstGeom prst="roundRect">
            <a:avLst/>
          </a:prstGeom>
          <a:solidFill>
            <a:srgbClr val="152535"/>
          </a:solidFill>
          <a:ln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897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EC98A"/>
                </a:solidFill>
              </a:defRPr>
            </a:pPr>
            <a:r>
              <a:t>FactoryAI is the only platform combining autonomous execution + enterprise integration + parallel scale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EC98A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60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AI-Powered Software Development is a Massive, Growing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1645920"/>
            <a:ext cx="2560320" cy="1280160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3727" y="178308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4EC98A"/>
                </a:solidFill>
              </a:defRPr>
            </a:pPr>
            <a:r>
              <a:t>$15.4B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3727" y="24231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0AEC0"/>
                </a:solidFill>
              </a:defRPr>
            </a:pPr>
            <a:r>
              <a:t>AI Code Tools Market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8367" y="1645920"/>
            <a:ext cx="2560320" cy="1280160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98367" y="178308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4EC98A"/>
                </a:solidFill>
              </a:defRPr>
            </a:pPr>
            <a:r>
              <a:t>32% CAGR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8367" y="24231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0AEC0"/>
                </a:solidFill>
              </a:defRPr>
            </a:pPr>
            <a:r>
              <a:t>Market Growth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45920"/>
            <a:ext cx="2560320" cy="1280160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33007" y="178308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4EC98A"/>
                </a:solidFill>
              </a:defRPr>
            </a:pPr>
            <a:r>
              <a:t>$45B+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007" y="24231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0AEC0"/>
                </a:solidFill>
              </a:defRPr>
            </a:pPr>
            <a:r>
              <a:t>Projected Market 2030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7647" y="1645920"/>
            <a:ext cx="2560320" cy="1280160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67647" y="178308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4EC98A"/>
                </a:solidFill>
              </a:defRPr>
            </a:pPr>
            <a:r>
              <a:t>89%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67647" y="24231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0AEC0"/>
                </a:solidFill>
              </a:defRPr>
            </a:pPr>
            <a:r>
              <a:t>Enterprises Adopting AI Dev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2918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Enterprise software maintenance alone is a $300B+ annual spend globally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Technical debt remediation market exceeds $50B annually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Application modernization (legacy to cloud) is $25B+ market growing 15% YoY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Security automation and remediation is fastest-growing segment at 40%+ CAGR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Why Now: LLM capabilities have crossed the threshold for autonomous task execution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Enterprises are ready to move from 'AI-assisted' to 'AI-autonomous' workflows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EC98A"/>
                </a:solidFill>
              </a:defRPr>
            </a:pPr>
            <a:r>
              <a:t>Market Landscape &amp; 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60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Understanding the Competitive Ecosystem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30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5F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Players</a:t>
                      </a:r>
                    </a:p>
                  </a:txBody>
                  <a:tcPr>
                    <a:solidFill>
                      <a:srgbClr val="005F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What They Do</a:t>
                      </a:r>
                    </a:p>
                  </a:txBody>
                  <a:tcPr>
                    <a:solidFill>
                      <a:srgbClr val="005F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Limitations</a:t>
                      </a:r>
                    </a:p>
                  </a:txBody>
                  <a:tcPr>
                    <a:solidFill>
                      <a:srgbClr val="005F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Code Assistants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GitHub Copilot, Amazon Q, Tabnine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Inline code suggestions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Suggestions only, no execution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Agentic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Claude Code, Cursor, Devin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Task-level AI coding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No enterprise features, no CI/CD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Open Source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Cline, Aider, Continue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Customizable agents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No governance, individual use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Enterprise AppMod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IBM WCA, CAST, Wipro AppMod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Migration assessments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One-time, not continuous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Refactoring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OpenRewrite, Moderne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Recipe-based transforms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Limited to predefined patterns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5760720"/>
            <a:ext cx="11460175" cy="640080"/>
          </a:xfrm>
          <a:prstGeom prst="roundRect">
            <a:avLst/>
          </a:prstGeom>
          <a:solidFill>
            <a:srgbClr val="152535"/>
          </a:solidFill>
          <a:ln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897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EC98A"/>
                </a:solidFill>
              </a:defRPr>
            </a:pPr>
            <a:r>
              <a:t>Market tools are assistive or one-time. FactoryAI delivers continuous autonomous execution.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EC98A"/>
                </a:solidFill>
              </a:defRPr>
            </a:pPr>
            <a:r>
              <a:t>Competitive Comparison - Feature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60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FactoryAI vs. Key Competitors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300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005F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FactoryAI</a:t>
                      </a:r>
                    </a:p>
                  </a:txBody>
                  <a:tcPr>
                    <a:solidFill>
                      <a:srgbClr val="005F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Copilot</a:t>
                      </a:r>
                    </a:p>
                  </a:txBody>
                  <a:tcPr>
                    <a:solidFill>
                      <a:srgbClr val="005F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Claude Code</a:t>
                      </a:r>
                    </a:p>
                  </a:txBody>
                  <a:tcPr>
                    <a:solidFill>
                      <a:srgbClr val="005F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Devin</a:t>
                      </a:r>
                    </a:p>
                  </a:txBody>
                  <a:tcPr>
                    <a:solidFill>
                      <a:srgbClr val="005F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Cline/OSS</a:t>
                      </a:r>
                    </a:p>
                  </a:txBody>
                  <a:tcPr>
                    <a:solidFill>
                      <a:srgbClr val="005F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Autonomous Task Execution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Full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Suggestions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Tasks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Tasks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Multi-Repo Parallel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Native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Slack / Jira Integration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Native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CI/CD Pipeline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Native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GH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Model Agnostic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Any LLM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Claude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Proprietary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Enterprise 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Basic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Growing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On-Premise / Air-Gapped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SBOM Security (Lineaje)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Integrated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EC98A"/>
                </a:solidFill>
              </a:defRPr>
            </a:pPr>
            <a:r>
              <a:t>Why FactoryAI Wins Against Each Competitor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11430000" cy="868680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EC98A"/>
                </a:solidFill>
              </a:defRPr>
            </a:pPr>
            <a:r>
              <a:t>vs GitHub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258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Executes complete tasks autonomously vs. suggesting code snippets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48840"/>
            <a:ext cx="11430000" cy="868680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00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F87"/>
                </a:solidFill>
              </a:defRPr>
            </a:pPr>
            <a:r>
              <a:t>vs 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2860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Enterprise orchestration + native CI/CD + multi-repo parallel execution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108960"/>
            <a:ext cx="11430000" cy="868680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42"/>
                </a:solidFill>
              </a:defRPr>
            </a:pPr>
            <a:r>
              <a:t>vs Devin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2461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True enterprise deployment with governance and team-wide coordination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069080"/>
            <a:ext cx="11430000" cy="868680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vs Open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2062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Enterprise security, compliance, governance, and professional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029200"/>
            <a:ext cx="11430000" cy="868680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5166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vs AppMod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1663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Continuous autonomous execution, not just one-time migration assessments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760720"/>
            <a:ext cx="11460175" cy="640080"/>
          </a:xfrm>
          <a:prstGeom prst="roundRect">
            <a:avLst/>
          </a:prstGeom>
          <a:solidFill>
            <a:srgbClr val="152535"/>
          </a:solidFill>
          <a:ln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5897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EC98A"/>
                </a:solidFill>
              </a:defRPr>
            </a:pPr>
            <a:r>
              <a:t>While other tools assist with coding, FactoryAI autonomously delivers completed engineering 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EC98A"/>
                </a:solidFill>
              </a:defRPr>
            </a:pPr>
            <a:r>
              <a:t>When Alternatives Make 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60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Honest Positioning - FactoryAI Isn't for Every Use Case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30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05F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Better Alternative</a:t>
                      </a:r>
                    </a:p>
                  </a:txBody>
                  <a:tcPr>
                    <a:solidFill>
                      <a:srgbClr val="005F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Rationale</a:t>
                      </a:r>
                    </a:p>
                  </a:txBody>
                  <a:tcPr>
                    <a:solidFill>
                      <a:srgbClr val="005F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Quick inline autocomplete during typing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GitHub Copilot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Fastest for simple code suggestions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Claude-centric AI development workflows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Claude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Best if standardized on Anthropic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IDE-first individual developer experience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Cursor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Superior UX for IDE-native preference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One-time legacy assessment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Wipro AppMod / 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Specialized in initial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Maximum customization/control needed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Cline / Aider (OSS)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A4A"/>
                          </a:solidFill>
                        </a:defRPr>
                      </a:pPr>
                      <a:r>
                        <a:t>Full control over agent behavior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5760720"/>
            <a:ext cx="11460175" cy="640080"/>
          </a:xfrm>
          <a:prstGeom prst="roundRect">
            <a:avLst/>
          </a:prstGeom>
          <a:solidFill>
            <a:srgbClr val="152535"/>
          </a:solidFill>
          <a:ln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897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EC98A"/>
                </a:solidFill>
              </a:defRPr>
            </a:pPr>
            <a:r>
              <a:t>FactoryAI excels at enterprise-scale autonomous execution, CI/CD integration, and continuous automation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EC98A"/>
                </a:solidFill>
              </a:defRPr>
            </a:pPr>
            <a:r>
              <a:t>Traction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60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Proven Results Across Enterprise Deployments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1645920"/>
            <a:ext cx="2560320" cy="1280160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3727" y="178308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4EC98A"/>
                </a:solidFill>
              </a:defRPr>
            </a:pPr>
            <a:r>
              <a:t>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3727" y="24231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0AEC0"/>
                </a:solidFill>
              </a:defRPr>
            </a:pPr>
            <a:r>
              <a:t>Reduction in Manual Effort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8367" y="1645920"/>
            <a:ext cx="2560320" cy="1280160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98367" y="178308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4EC98A"/>
                </a:solidFill>
              </a:defRPr>
            </a:pPr>
            <a:r>
              <a:t>10x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8367" y="24231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0AEC0"/>
                </a:solidFill>
              </a:defRPr>
            </a:pPr>
            <a:r>
              <a:t>Faster Modernization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45920"/>
            <a:ext cx="2560320" cy="1280160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33007" y="178308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4EC98A"/>
                </a:solidFill>
              </a:defRPr>
            </a:pPr>
            <a:r>
              <a:t>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007" y="24231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0AEC0"/>
                </a:solidFill>
              </a:defRPr>
            </a:pPr>
            <a:r>
              <a:t>Maintenance Cost Reduction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7647" y="1645920"/>
            <a:ext cx="2560320" cy="1280160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67647" y="178308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4EC98A"/>
                </a:solidFill>
              </a:defRPr>
            </a:pPr>
            <a:r>
              <a:t>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67647" y="24231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0AEC0"/>
                </a:solidFill>
              </a:defRPr>
            </a:pPr>
            <a:r>
              <a:t>Faster Security Patching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2918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rPr dirty="0"/>
              <a:t>• Deployed across Fortune 500 enterprise environments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rPr dirty="0"/>
              <a:t>• Integrated with major CI/CD platforms: Azure DevOps, GitHub Actions, Jenkins, GitLab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rPr dirty="0"/>
              <a:t>• Processing millions of code changes across thousands of repositories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Lineaje</a:t>
            </a:r>
            <a:r>
              <a:rPr dirty="0"/>
              <a:t> integration providing SBOM-driven security automation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rPr dirty="0"/>
              <a:t>• 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rPr dirty="0"/>
              <a:t>• Customer Feedback: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rPr dirty="0"/>
              <a:t>  '</a:t>
            </a:r>
            <a:r>
              <a:rPr dirty="0" err="1"/>
              <a:t>FactoryAI</a:t>
            </a:r>
            <a:r>
              <a:rPr dirty="0"/>
              <a:t> transformed our Java 8 to 17 migration from 6 months to 3 weeks'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rPr dirty="0"/>
              <a:t>  'We reduced our security vulnerability backlog by 85% in the first quarter'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EC98A"/>
                </a:solidFill>
              </a:defRPr>
            </a:pPr>
            <a:r>
              <a:t>Value Delivered by Stakeholder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60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FactoryAI Creates Value Across the Organization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834640" cy="3840480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4EC98A"/>
                </a:solidFill>
              </a:defRPr>
            </a:pPr>
            <a:r>
              <a:t>CTOs / 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10312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Accelerates digital transformation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Reduces technical debt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40% faster time-to-market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371600"/>
            <a:ext cx="2834640" cy="3840480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00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" y="15544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5F87"/>
                </a:solidFill>
              </a:defRPr>
            </a:pPr>
            <a:r>
              <a:t>Engineering Leaders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210312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Improves team productivity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Consistent execution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2-3x throughput on routine 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834640" cy="3840480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59" y="15544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8C42"/>
                </a:solidFill>
              </a:defRPr>
            </a:pPr>
            <a:r>
              <a:t>DevOps Teams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0312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CI/CD automation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Reduces operational toil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60% fewer deployment incidents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371600"/>
            <a:ext cx="2834640" cy="3840480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81160" y="15544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Developers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10312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Eliminates repetitive work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Focus on high-value engineering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70% less boilerplate 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EC98A"/>
                </a:solidFill>
              </a:defRPr>
            </a:pPr>
            <a:r>
              <a:t>Technology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60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Enterprise-Grade Platform Built for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Model-Agnostic Core: Supports GPT-4, Claude, Gemini, Llama, and custom enterprise models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Multi-Surface SDK: Unified API for IDE, CLI, Web, Slack, Jira integrations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Parallel Execution Engine: Orchestrates concurrent tasks across multiple repositories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CI/CD Native Connectors: Azure DevOps, GitHub Actions, Jenkins, GitLab CI, CircleCI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Security Framework: SOC-2 compliant, encryption at rest/transit, audit logging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Lineaje Integration: SBOM generation, vulnerability detection, automated remediation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Deployment Flexibility: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  - Multi-tenant cloud (AWS, Azure, GCP)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  - Single-tenant dedicated instances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  - On-premise Kubernetes deployment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  - Air-gapped environment support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EC98A"/>
                </a:solidFill>
              </a:defRPr>
            </a:pPr>
            <a:r>
              <a:t>Enterprise 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60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Built for the Most Demanding Enterprise Environments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5669280" cy="1188720"/>
          </a:xfrm>
          <a:prstGeom prst="roundRect">
            <a:avLst/>
          </a:prstGeom>
          <a:solidFill>
            <a:srgbClr val="1B26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SOC-2 Type II Certified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Independent verification of security controls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669280" cy="1188720"/>
          </a:xfrm>
          <a:prstGeom prst="roundRect">
            <a:avLst/>
          </a:prstGeom>
          <a:solidFill>
            <a:srgbClr val="1B26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5544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Data Encryption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965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AES-256 at rest, TLS 1.3 in transit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743200"/>
            <a:ext cx="5669280" cy="1188720"/>
          </a:xfrm>
          <a:prstGeom prst="roundRect">
            <a:avLst/>
          </a:prstGeom>
          <a:solidFill>
            <a:srgbClr val="1B26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26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Access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3375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RBAC, SSO/SAML, MFA enforcement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743200"/>
            <a:ext cx="5669280" cy="1188720"/>
          </a:xfrm>
          <a:prstGeom prst="roundRect">
            <a:avLst/>
          </a:prstGeom>
          <a:solidFill>
            <a:srgbClr val="1B26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926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Audit Logging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3375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Complete audit trail for compliance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114800"/>
            <a:ext cx="5669280" cy="1188720"/>
          </a:xfrm>
          <a:prstGeom prst="roundRect">
            <a:avLst/>
          </a:prstGeom>
          <a:solidFill>
            <a:srgbClr val="1B26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434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976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Air-Gapped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7091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Fully offline deployment options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114800"/>
            <a:ext cx="5669280" cy="1188720"/>
          </a:xfrm>
          <a:prstGeom prst="roundRect">
            <a:avLst/>
          </a:prstGeom>
          <a:solidFill>
            <a:srgbClr val="1B26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4434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2976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Lineaje SBOM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7091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Software Bill of Materials for supply chain security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EC98A"/>
                </a:solidFill>
              </a:defRPr>
            </a:pPr>
            <a:r>
              <a:t>Wipro + FactoryAI Partnership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60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Strategic Positioning for Enterprise Modernization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Combined Value Proposition: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  • Wipro AMS provides baseline application maintenance and support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  • FactoryAI enables continuous autonomous modernization at scale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  • Lineaje delivers integrated SBOM-driven security automation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Go-to-Market Strategy: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  • Position as premium offering for large-scale modernization programs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  • Target enterprises with 100+ applications and significant tech debt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  • Lead with ROI: 70% effort reduction, 10x faster delivery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Competitive Differentiation: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  • Only solution combining AMS expertise + AI autonomy + security automation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  • Enterprise-ready with governance, compliance, and on-premise options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  • Model-agnostic architecture avoids customer lock-in concerns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760720"/>
            <a:ext cx="11460175" cy="640080"/>
          </a:xfrm>
          <a:prstGeom prst="roundRect">
            <a:avLst/>
          </a:prstGeom>
          <a:solidFill>
            <a:srgbClr val="152535"/>
          </a:solidFill>
          <a:ln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897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EC98A"/>
                </a:solidFill>
              </a:defRPr>
            </a:pPr>
            <a:r>
              <a:t>Strategy: AMS for baseline operations -&gt; FactoryAI + Lineaje for continuous modernization and security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EC98A"/>
                </a:solidFill>
              </a:defRPr>
            </a:pPr>
            <a:r>
              <a:t>FactoryAI + Lineaje: Complete Autonomous Engineering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60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Two Powerful Platforms, One Unified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5303520" cy="3840480"/>
          </a:xfrm>
          <a:prstGeom prst="roundRect">
            <a:avLst/>
          </a:prstGeom>
          <a:solidFill>
            <a:srgbClr val="1B263B"/>
          </a:solidFill>
          <a:ln w="38100"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EC98A"/>
                </a:solidFill>
              </a:defRPr>
            </a:pPr>
            <a:r>
              <a:t>FactoryAI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AEC0"/>
                </a:solidFill>
              </a:defRPr>
            </a:pPr>
            <a:r>
              <a:t>Autonomous Code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Autonomous task completion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Multi-file refactoring at scale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Parallel execution across repos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CI/CD native integration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IDE, CLI, Slack, Jira support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Model-agnostic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371600"/>
            <a:ext cx="5303520" cy="3840480"/>
          </a:xfrm>
          <a:prstGeom prst="roundRect">
            <a:avLst/>
          </a:prstGeom>
          <a:solidFill>
            <a:srgbClr val="1B263B"/>
          </a:solidFill>
          <a:ln w="3810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55448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7941D"/>
                </a:solidFill>
              </a:defRPr>
            </a:pPr>
            <a:r>
              <a:t>Lineaje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0116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AEC0"/>
                </a:solidFill>
              </a:defRPr>
            </a:pPr>
            <a:r>
              <a:t>Software Supply Chain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46888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SBOM generation &amp; management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Vulnerability detection &amp; scoring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License compliance tracking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Dependency risk analysis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Supply chain attestation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Regulatory compliance (NIST, EO)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92608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760720"/>
            <a:ext cx="11460175" cy="640080"/>
          </a:xfrm>
          <a:prstGeom prst="roundRect">
            <a:avLst/>
          </a:prstGeom>
          <a:solidFill>
            <a:srgbClr val="152535"/>
          </a:solidFill>
          <a:ln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5897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EC98A"/>
                </a:solidFill>
              </a:defRPr>
            </a:pPr>
            <a:r>
              <a:t>Together: Autonomous code modernization with integrated security - detect vulnerabilities and auto-remediate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EC98A"/>
                </a:solidFill>
              </a:defRPr>
            </a:pPr>
            <a:r>
              <a:t>FactoryAI + Lineaje: Integrated Security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60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From Vulnerability Detection to Automated Remediation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11430000" cy="658368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own Arrow 5"/>
          <p:cNvSpPr/>
          <p:nvPr/>
        </p:nvSpPr>
        <p:spPr>
          <a:xfrm>
            <a:off x="5852160" y="1938528"/>
            <a:ext cx="457200" cy="109728"/>
          </a:xfrm>
          <a:prstGeom prst="downArrow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19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7941D"/>
                </a:solidFill>
              </a:defRPr>
            </a:pPr>
            <a:r>
              <a:t>1. Detect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417319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Lineaje scans codebase, generates SBOM, identifies vulnerabilities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029967"/>
            <a:ext cx="11430000" cy="658368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own Arrow 9"/>
          <p:cNvSpPr/>
          <p:nvPr/>
        </p:nvSpPr>
        <p:spPr>
          <a:xfrm>
            <a:off x="5852160" y="2688335"/>
            <a:ext cx="457200" cy="109728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167127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2. Prioritize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167127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Risk scoring based on CVSS, exploitability, business impact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779776"/>
            <a:ext cx="11430000" cy="658368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own Arrow 13"/>
          <p:cNvSpPr/>
          <p:nvPr/>
        </p:nvSpPr>
        <p:spPr>
          <a:xfrm>
            <a:off x="5852160" y="3438144"/>
            <a:ext cx="457200" cy="109728"/>
          </a:xfrm>
          <a:prstGeom prst="downArrow">
            <a:avLst/>
          </a:prstGeom>
          <a:solidFill>
            <a:srgbClr val="4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916936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EC98A"/>
                </a:solidFill>
              </a:defRPr>
            </a:pPr>
            <a:r>
              <a:t>3. Analyze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916936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FactoryAI analyzes vulnerability context and remediation options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529584"/>
            <a:ext cx="11430000" cy="658368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5852160" y="4187952"/>
            <a:ext cx="457200" cy="109728"/>
          </a:xfrm>
          <a:prstGeom prst="downArrow">
            <a:avLst/>
          </a:prstGeom>
          <a:solidFill>
            <a:srgbClr val="4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666744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EC98A"/>
                </a:solidFill>
              </a:defRPr>
            </a:pPr>
            <a:r>
              <a:t>4. Remediate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66674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FactoryAI autonomously applies fixes across affected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279392"/>
            <a:ext cx="11430000" cy="658368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Down Arrow 21"/>
          <p:cNvSpPr/>
          <p:nvPr/>
        </p:nvSpPr>
        <p:spPr>
          <a:xfrm>
            <a:off x="5852160" y="4937759"/>
            <a:ext cx="457200" cy="109728"/>
          </a:xfrm>
          <a:prstGeom prst="down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416552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B5CF6"/>
                </a:solidFill>
              </a:defRPr>
            </a:pPr>
            <a:r>
              <a:t>5. 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416552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Automated testing ensures fixes don't break functionality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029200"/>
            <a:ext cx="11430000" cy="658368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00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516636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F87"/>
                </a:solidFill>
              </a:defRPr>
            </a:pPr>
            <a:r>
              <a:t>6. 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16636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CI/CD pipeline deploys verified fixes to production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EC98A"/>
                </a:solidFill>
              </a:defRPr>
            </a:pPr>
            <a:r>
              <a:t>FactoryAI + Lineaje: Combined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60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Measurable Results Across Security and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651760" cy="2011680"/>
          </a:xfrm>
          <a:prstGeom prst="roundRect">
            <a:avLst/>
          </a:prstGeom>
          <a:solidFill>
            <a:srgbClr val="1B263B"/>
          </a:solidFill>
          <a:ln w="3810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7941D"/>
                </a:solidFill>
              </a:defRPr>
            </a:pPr>
            <a:r>
              <a:t>90%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Faster Vulnerability</a:t>
            </a:r>
            <a:br/>
            <a:r>
              <a:t>Remediation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63040"/>
            <a:ext cx="2651760" cy="2011680"/>
          </a:xfrm>
          <a:prstGeom prst="roundRect">
            <a:avLst/>
          </a:prstGeom>
          <a:solidFill>
            <a:srgbClr val="1B263B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0" y="169164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0B981"/>
                </a:solidFill>
              </a:defRPr>
            </a:pPr>
            <a:r>
              <a:t>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68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Reduction in</a:t>
            </a:r>
            <a:br/>
            <a:r>
              <a:t>Security Backlog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2651760" cy="2011680"/>
          </a:xfrm>
          <a:prstGeom prst="roundRect">
            <a:avLst/>
          </a:prstGeom>
          <a:solidFill>
            <a:srgbClr val="1B263B"/>
          </a:solidFill>
          <a:ln w="38100"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4EC98A"/>
                </a:solidFill>
              </a:defRPr>
            </a:pPr>
            <a:r>
              <a:t>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Less Manual</a:t>
            </a:r>
            <a:br/>
            <a:r>
              <a:t>Engineering Effort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463040"/>
            <a:ext cx="2651760" cy="2011680"/>
          </a:xfrm>
          <a:prstGeom prst="roundRect">
            <a:avLst/>
          </a:prstGeom>
          <a:solidFill>
            <a:srgbClr val="1B263B"/>
          </a:solidFill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0" y="169164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6B6D4"/>
                </a:solidFill>
              </a:defRPr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468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SBOM</a:t>
            </a:r>
            <a:br/>
            <a:r>
              <a:t>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49039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Log4j-style Critical Vulnerabilities: Detect and patch across all repos in hours, not weeks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Continuous Compliance: Auto-generated SBOMs for every release, meeting NIST/EO requirements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Proactive Security: AI-driven vulnerability prediction and preventive remediation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Supply Chain Integrity: Full dependency tree visibility with automated risk mitigation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760720"/>
            <a:ext cx="11460175" cy="640080"/>
          </a:xfrm>
          <a:prstGeom prst="roundRect">
            <a:avLst/>
          </a:prstGeom>
          <a:solidFill>
            <a:srgbClr val="152535"/>
          </a:solidFill>
          <a:ln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5897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EC98A"/>
                </a:solidFill>
              </a:defRPr>
            </a:pPr>
            <a:r>
              <a:t>Only solution combining autonomous code engineering with SBOM-driven security automation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EC98A"/>
                </a:solidFill>
              </a:defRPr>
            </a:pPr>
            <a:r>
              <a:t>FactoryAI Across Teams: Persona-Based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60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Value Delivered to Every Role in the Software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3657600" cy="1920240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28800" y="1554480"/>
            <a:ext cx="731520" cy="731520"/>
          </a:xfrm>
          <a:prstGeom prst="ellipse">
            <a:avLst/>
          </a:prstGeom>
          <a:solidFill>
            <a:srgbClr val="4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1664208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B2A"/>
                </a:solidFill>
              </a:defRPr>
            </a:pPr>
            <a:r>
              <a:t>&lt;/&gt;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77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C98A"/>
                </a:solidFill>
              </a:defRPr>
            </a:pPr>
            <a:r>
              <a:t>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0AEC0"/>
                </a:solidFill>
              </a:defRPr>
            </a:pPr>
            <a:r>
              <a:t>Code faster, eliminate boilerplate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371600"/>
            <a:ext cx="3657600" cy="1920240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00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669280" y="1554480"/>
            <a:ext cx="731520" cy="731520"/>
          </a:xfrm>
          <a:prstGeom prst="ellipse">
            <a:avLst/>
          </a:prstGeom>
          <a:solidFill>
            <a:srgbClr val="00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0" y="1664208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B2A"/>
                </a:solidFill>
              </a:defRPr>
            </a:pPr>
            <a:r>
              <a:t>[]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377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5F87"/>
                </a:solidFill>
              </a:defRPr>
            </a:pPr>
            <a:r>
              <a:t>Architect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743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0AEC0"/>
                </a:solidFill>
              </a:defRPr>
            </a:pPr>
            <a:r>
              <a:t>Design reviews, pattern enforcement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657600" cy="1920240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509760" y="1554480"/>
            <a:ext cx="731520" cy="7315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0" y="1664208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B2A"/>
                </a:solidFill>
              </a:defRPr>
            </a:pPr>
            <a:r>
              <a:t>QA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377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Tester/QA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743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0AEC0"/>
                </a:solidFill>
              </a:defRPr>
            </a:pPr>
            <a:r>
              <a:t>Test generation, coverage expansion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566160"/>
            <a:ext cx="3657600" cy="1920240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828800" y="3749039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28800" y="3858768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B2A"/>
                </a:solidFill>
              </a:defRPr>
            </a:pPr>
            <a:r>
              <a:t>CI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572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8C42"/>
                </a:solidFill>
              </a:defRPr>
            </a:pPr>
            <a:r>
              <a:t>DevOps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9377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0AEC0"/>
                </a:solidFill>
              </a:defRPr>
            </a:pPr>
            <a:r>
              <a:t>Pipeline automation, IaC management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3566160"/>
            <a:ext cx="3657600" cy="1920240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669280" y="3749039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0" y="3858768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B2A"/>
                </a:solidFill>
              </a:defRPr>
            </a:pPr>
            <a:r>
              <a:t>?!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4572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C4899"/>
                </a:solidFill>
              </a:defRPr>
            </a:pPr>
            <a:r>
              <a:t>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9377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0AEC0"/>
                </a:solidFill>
              </a:defRPr>
            </a:pPr>
            <a:r>
              <a:t>RCA, incident resolution, runbooks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566160"/>
            <a:ext cx="3657600" cy="1920240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509760" y="3749039"/>
            <a:ext cx="731520" cy="7315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509760" y="3858768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B2A"/>
                </a:solidFill>
              </a:defRPr>
            </a:pPr>
            <a:r>
              <a:t>Doc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4572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Documentation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9377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0AEC0"/>
                </a:solidFill>
              </a:defRPr>
            </a:pPr>
            <a:r>
              <a:t>Auto-generated docs, API specs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5760720"/>
            <a:ext cx="11460175" cy="640080"/>
          </a:xfrm>
          <a:prstGeom prst="roundRect">
            <a:avLst/>
          </a:prstGeom>
          <a:solidFill>
            <a:srgbClr val="152535"/>
          </a:solidFill>
          <a:ln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5897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EC98A"/>
                </a:solidFill>
              </a:defRPr>
            </a:pPr>
            <a:r>
              <a:t>FactoryAI adapts to each persona's workflow - one platform, multiple surfaces, unified experience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EC98A"/>
                </a:solidFill>
              </a:defRPr>
            </a:pPr>
            <a:r>
              <a:t>Developer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60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Accelerate Development, Eliminate Repetitive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3749039" cy="4114800"/>
          </a:xfrm>
          <a:prstGeom prst="roundRect">
            <a:avLst/>
          </a:prstGeom>
          <a:solidFill>
            <a:srgbClr val="1B263B"/>
          </a:solidFill>
          <a:ln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EC98A"/>
                </a:solidFill>
              </a:defRPr>
            </a:pPr>
            <a:r>
              <a:t>Code Generation &amp; Completion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9202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Generate boilerplate code from natural language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Implement interfaces and abstract classes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Create unit tests for existing code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Build CRUD operations and API endpoints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280160"/>
            <a:ext cx="3749039" cy="4114800"/>
          </a:xfrm>
          <a:prstGeom prst="roundRect">
            <a:avLst/>
          </a:prstGeom>
          <a:solidFill>
            <a:srgbClr val="1B263B"/>
          </a:solidFill>
          <a:ln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51959" y="141732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EC98A"/>
                </a:solidFill>
              </a:defRPr>
            </a:pPr>
            <a:r>
              <a:t>Refactoring &amp; Modernization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9202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Upgrade framework versions (Spring Boot, React)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Migrate to new patterns (callbacks to async/await)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Extract methods, classes, and modules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Rename and reorganize code across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749039" cy="4114800"/>
          </a:xfrm>
          <a:prstGeom prst="roundRect">
            <a:avLst/>
          </a:prstGeom>
          <a:solidFill>
            <a:srgbClr val="1B263B"/>
          </a:solidFill>
          <a:ln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141732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EC98A"/>
                </a:solidFill>
              </a:defRPr>
            </a:pPr>
            <a:r>
              <a:t>Bug Fixing &amp; Code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9202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Analyze stack traces and suggest fixes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Fix linting and code style issues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Resolve compilation errors automatically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Apply security patches to dependencies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760720"/>
            <a:ext cx="11460175" cy="640080"/>
          </a:xfrm>
          <a:prstGeom prst="roundRect">
            <a:avLst/>
          </a:prstGeom>
          <a:solidFill>
            <a:srgbClr val="152535"/>
          </a:solidFill>
          <a:ln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5897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EC98A"/>
                </a:solidFill>
              </a:defRPr>
            </a:pPr>
            <a:r>
              <a:t>Result: 70% reduction in time spent on boilerplate and repetitive coding tasks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F87"/>
                </a:solidFill>
              </a:defRPr>
            </a:pPr>
            <a:r>
              <a:t>Architect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60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Enforce Standards, Accelerate Design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3749039" cy="4114800"/>
          </a:xfrm>
          <a:prstGeom prst="roundRect">
            <a:avLst/>
          </a:prstGeom>
          <a:solidFill>
            <a:srgbClr val="1B263B"/>
          </a:solidFill>
          <a:ln>
            <a:solidFill>
              <a:srgbClr val="00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5F87"/>
                </a:solidFill>
              </a:defRPr>
            </a:pPr>
            <a:r>
              <a:t>Architecture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9202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Analyze codebase structure and dependencies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Identify architectural violations and debt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Map microservice communication patterns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Detect circular dependencies and coupling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280160"/>
            <a:ext cx="3749039" cy="4114800"/>
          </a:xfrm>
          <a:prstGeom prst="roundRect">
            <a:avLst/>
          </a:prstGeom>
          <a:solidFill>
            <a:srgbClr val="1B263B"/>
          </a:solidFill>
          <a:ln>
            <a:solidFill>
              <a:srgbClr val="00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51959" y="141732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5F87"/>
                </a:solidFill>
              </a:defRPr>
            </a:pPr>
            <a:r>
              <a:t>Pattern Enforcement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9202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Enforce design patterns across teams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Validate layered architecture compliance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Check API design standards (REST, GraphQL)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Ensure consistent error handling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749039" cy="4114800"/>
          </a:xfrm>
          <a:prstGeom prst="roundRect">
            <a:avLst/>
          </a:prstGeom>
          <a:solidFill>
            <a:srgbClr val="1B263B"/>
          </a:solidFill>
          <a:ln>
            <a:solidFill>
              <a:srgbClr val="00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141732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5F87"/>
                </a:solidFill>
              </a:defRPr>
            </a:pPr>
            <a:r>
              <a:t>Migration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9202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Generate migration impact assessments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Create dependency upgrade roadmaps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Plan monolith-to-microservice decomposition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Estimate effort for technology transitions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760720"/>
            <a:ext cx="11460175" cy="640080"/>
          </a:xfrm>
          <a:prstGeom prst="roundRect">
            <a:avLst/>
          </a:prstGeom>
          <a:solidFill>
            <a:srgbClr val="152535"/>
          </a:solidFill>
          <a:ln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5897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EC98A"/>
                </a:solidFill>
              </a:defRPr>
            </a:pPr>
            <a:r>
              <a:t>Result: Architectural decisions backed by AI-driven analysis, not just intuition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B5CF6"/>
                </a:solidFill>
              </a:defRPr>
            </a:pPr>
            <a:r>
              <a:t>Tester / QA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60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Expand Coverage, Automate Test Creation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3749039" cy="4114800"/>
          </a:xfrm>
          <a:prstGeom prst="roundRect">
            <a:avLst/>
          </a:prstGeom>
          <a:solidFill>
            <a:srgbClr val="1B26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</a:defRPr>
            </a:pPr>
            <a:r>
              <a:t>Test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9202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Generate unit tests from code analysis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Create integration test scaffolding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Build API test suites from OpenAPI specs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Generate edge case and boundary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280160"/>
            <a:ext cx="3749039" cy="4114800"/>
          </a:xfrm>
          <a:prstGeom prst="roundRect">
            <a:avLst/>
          </a:prstGeom>
          <a:solidFill>
            <a:srgbClr val="1B26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51959" y="141732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</a:defRPr>
            </a:pPr>
            <a:r>
              <a:t>Test Maintenance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9202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Update tests after code refactoring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Fix flaky tests automatically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Migrate test frameworks (JUnit 4 to 5)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Consolidate duplicate test cases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749039" cy="4114800"/>
          </a:xfrm>
          <a:prstGeom prst="roundRect">
            <a:avLst/>
          </a:prstGeom>
          <a:solidFill>
            <a:srgbClr val="1B26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141732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</a:defRPr>
            </a:pPr>
            <a:r>
              <a:t>Coverage &amp;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9202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Identify untested code paths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Generate tests for uncovered branches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Create mutation testing scenarios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Build performance test baselines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760720"/>
            <a:ext cx="11460175" cy="640080"/>
          </a:xfrm>
          <a:prstGeom prst="roundRect">
            <a:avLst/>
          </a:prstGeom>
          <a:solidFill>
            <a:srgbClr val="152535"/>
          </a:solidFill>
          <a:ln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5897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EC98A"/>
                </a:solidFill>
              </a:defRPr>
            </a:pPr>
            <a:r>
              <a:t>Result: 30% to 70%+ test coverage improvement with AI-generated test suites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8C42"/>
                </a:solidFill>
              </a:defRPr>
            </a:pPr>
            <a:r>
              <a:t>DevOps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60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Automate Pipelines, Manage Infrastructure as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3749039" cy="4114800"/>
          </a:xfrm>
          <a:prstGeom prst="roundRect">
            <a:avLst/>
          </a:prstGeom>
          <a:solidFill>
            <a:srgbClr val="1B263B"/>
          </a:solidFill>
          <a:ln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8C42"/>
                </a:solidFill>
              </a:defRPr>
            </a:pPr>
            <a:r>
              <a:t>Pipeline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9202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Generate CI/CD pipeline configurations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Create deployment scripts and workflows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Build container orchestration configs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Automate release management tasks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280160"/>
            <a:ext cx="3749039" cy="4114800"/>
          </a:xfrm>
          <a:prstGeom prst="roundRect">
            <a:avLst/>
          </a:prstGeom>
          <a:solidFill>
            <a:srgbClr val="1B263B"/>
          </a:solidFill>
          <a:ln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51959" y="141732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8C42"/>
                </a:solidFill>
              </a:defRPr>
            </a:pPr>
            <a:r>
              <a:t>Infrastructure as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9202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Generate Terraform/CloudFormation templates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Create Kubernetes manifests and Helm charts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Build Ansible playbooks and roles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Migrate between IaC frameworks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749039" cy="4114800"/>
          </a:xfrm>
          <a:prstGeom prst="roundRect">
            <a:avLst/>
          </a:prstGeom>
          <a:solidFill>
            <a:srgbClr val="1B263B"/>
          </a:solidFill>
          <a:ln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141732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8C42"/>
                </a:solidFill>
              </a:defRPr>
            </a:pPr>
            <a:r>
              <a:t>Operational Excellence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9202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Create monitoring and alerting configs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Generate runbooks and procedures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Build incident response automation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Automate environment provisioning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760720"/>
            <a:ext cx="11460175" cy="640080"/>
          </a:xfrm>
          <a:prstGeom prst="roundRect">
            <a:avLst/>
          </a:prstGeom>
          <a:solidFill>
            <a:srgbClr val="152535"/>
          </a:solidFill>
          <a:ln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5897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EC98A"/>
                </a:solidFill>
              </a:defRPr>
            </a:pPr>
            <a:r>
              <a:t>Result: 60% reduction in pipeline setup time, consistent IaC across environments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4899"/>
                </a:solidFill>
              </a:defRPr>
            </a:pPr>
            <a:r>
              <a:t>Support &amp; RCA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60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Accelerate Incident Resolution, Enable Root Cause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3749039" cy="4297680"/>
          </a:xfrm>
          <a:prstGeom prst="roundRect">
            <a:avLst/>
          </a:prstGeom>
          <a:solidFill>
            <a:srgbClr val="1B263B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C4899"/>
                </a:solidFill>
              </a:defRPr>
            </a:pPr>
            <a:r>
              <a:t>Root Cause Analysis (RCA)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92024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Analyze error logs and stack traces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Correlate events across services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Identify root cause from symptoms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Generate RCA reports automatically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Suggest preventive measures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280160"/>
            <a:ext cx="3749039" cy="4297680"/>
          </a:xfrm>
          <a:prstGeom prst="roundRect">
            <a:avLst/>
          </a:prstGeom>
          <a:solidFill>
            <a:srgbClr val="1B263B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51959" y="141732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C4899"/>
                </a:solidFill>
              </a:defRPr>
            </a:pPr>
            <a:r>
              <a:t>Incident Resolution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92024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Auto-triage incoming incidents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Suggest resolution steps from history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Generate hotfix code for known issues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Create rollback procedures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Update knowledge base automatically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749039" cy="4297680"/>
          </a:xfrm>
          <a:prstGeom prst="roundRect">
            <a:avLst/>
          </a:prstGeom>
          <a:solidFill>
            <a:srgbClr val="1B263B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141732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C4899"/>
                </a:solidFill>
              </a:defRPr>
            </a:pPr>
            <a:r>
              <a:t>Knowledge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92024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Build troubleshooting guides from tickets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Create FAQ from common issues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Generate runbooks from resolutions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Extract patterns from incident data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Auto-categorize and tag issues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760720"/>
            <a:ext cx="11460175" cy="640080"/>
          </a:xfrm>
          <a:prstGeom prst="roundRect">
            <a:avLst/>
          </a:prstGeom>
          <a:solidFill>
            <a:srgbClr val="152535"/>
          </a:solidFill>
          <a:ln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5897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EC98A"/>
                </a:solidFill>
              </a:defRPr>
            </a:pPr>
            <a:r>
              <a:t>Result: 50% faster MTTR (Mean Time to Resolution), 80% reduction in repeat incidents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Documentation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60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Auto-Generate, Update, and Maintain Technical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3749039" cy="4297680"/>
          </a:xfrm>
          <a:prstGeom prst="roundRect">
            <a:avLst/>
          </a:prstGeom>
          <a:solidFill>
            <a:srgbClr val="1B26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Code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92024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Generate inline code comments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Create function/method documentation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Build README files from codebase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Generate changelog from commits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Create architecture decision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280160"/>
            <a:ext cx="3749039" cy="4297680"/>
          </a:xfrm>
          <a:prstGeom prst="roundRect">
            <a:avLst/>
          </a:prstGeom>
          <a:solidFill>
            <a:srgbClr val="1B26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51959" y="141732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API 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92024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Generate OpenAPI/Swagger specs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Create API reference documentation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Build integration guides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Generate SDK documentation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Create authentication/auth guides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749039" cy="4297680"/>
          </a:xfrm>
          <a:prstGeom prst="roundRect">
            <a:avLst/>
          </a:prstGeom>
          <a:solidFill>
            <a:srgbClr val="1B26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141732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User &amp; Technical 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92024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Generate user guides from features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Create deployment documentation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Build configuration references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Generate troubleshooting guides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Create onboarding documentation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760720"/>
            <a:ext cx="11460175" cy="640080"/>
          </a:xfrm>
          <a:prstGeom prst="roundRect">
            <a:avLst/>
          </a:prstGeom>
          <a:solidFill>
            <a:srgbClr val="152535"/>
          </a:solidFill>
          <a:ln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5897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EC98A"/>
                </a:solidFill>
              </a:defRPr>
            </a:pPr>
            <a:r>
              <a:t>Result: Documentation stays in sync with code - always accurate, always up-to-date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EC98A"/>
                </a:solidFill>
              </a:defRPr>
            </a:pPr>
            <a:r>
              <a:t>FactoryAI Value Summary by Persona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60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Key Benefits and Metrics Across All Roles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Persona</a:t>
                      </a:r>
                    </a:p>
                  </a:txBody>
                  <a:tcPr>
                    <a:solidFill>
                      <a:srgbClr val="005F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Primary Use Cases</a:t>
                      </a:r>
                    </a:p>
                  </a:txBody>
                  <a:tcPr>
                    <a:solidFill>
                      <a:srgbClr val="005F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Key Benefit</a:t>
                      </a:r>
                    </a:p>
                  </a:txBody>
                  <a:tcPr>
                    <a:solidFill>
                      <a:srgbClr val="005F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Impact Metric</a:t>
                      </a:r>
                    </a:p>
                  </a:txBody>
                  <a:tcPr>
                    <a:solidFill>
                      <a:srgbClr val="005F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EC98A"/>
                          </a:solidFill>
                        </a:defRPr>
                      </a:pPr>
                      <a:r>
                        <a:t>Developer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Code gen, refactoring, bug fixes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Eliminate repetitive work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70% less boilerplate time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5F87"/>
                          </a:solidFill>
                        </a:defRPr>
                      </a:pPr>
                      <a:r>
                        <a:t>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Analysis, patterns, migration planning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Data-driven design decisions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5x faster assessments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8B5CF6"/>
                          </a:solidFill>
                        </a:defRPr>
                      </a:pPr>
                      <a:r>
                        <a:t>Tester/QA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Test generation, maintenance, coverage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Automated test creation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30-70% coverage increase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8C42"/>
                          </a:solidFill>
                        </a:defRPr>
                      </a:pPr>
                      <a:r>
                        <a:t>DevOps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Pipeline automation, IaC,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Consistent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60% faster pipeline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C4899"/>
                          </a:solidFill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RCA, incident resolution, knowledge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Faster incident resolution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50% MTTR reduction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Code docs, API specs, user guides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Always-current 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90% doc freshness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5760720"/>
            <a:ext cx="11460175" cy="640080"/>
          </a:xfrm>
          <a:prstGeom prst="roundRect">
            <a:avLst/>
          </a:prstGeom>
          <a:solidFill>
            <a:srgbClr val="152535"/>
          </a:solidFill>
          <a:ln>
            <a:solidFill>
              <a:srgbClr val="4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897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EC98A"/>
                </a:solidFill>
              </a:defRPr>
            </a:pPr>
            <a:r>
              <a:t>One platform, multiple personas - FactoryAI delivers measurable value across the entire SDLC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2499</Words>
  <Application>Microsoft Office PowerPoint</Application>
  <PresentationFormat>Widescreen</PresentationFormat>
  <Paragraphs>502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Muruganandam.Govindarajan</cp:lastModifiedBy>
  <cp:revision>2</cp:revision>
  <dcterms:created xsi:type="dcterms:W3CDTF">2013-01-27T09:14:16Z</dcterms:created>
  <dcterms:modified xsi:type="dcterms:W3CDTF">2026-03-24T16:13:42Z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8c544ca-bb84-4280-906e-934547e1d30c_Enabled">
    <vt:lpwstr>true</vt:lpwstr>
  </property>
  <property fmtid="{D5CDD505-2E9C-101B-9397-08002B2CF9AE}" pid="3" name="MSIP_Label_a8c544ca-bb84-4280-906e-934547e1d30c_SetDate">
    <vt:lpwstr>2026-03-24T16:08:59Z</vt:lpwstr>
  </property>
  <property fmtid="{D5CDD505-2E9C-101B-9397-08002B2CF9AE}" pid="4" name="MSIP_Label_a8c544ca-bb84-4280-906e-934547e1d30c_Method">
    <vt:lpwstr>Privileged</vt:lpwstr>
  </property>
  <property fmtid="{D5CDD505-2E9C-101B-9397-08002B2CF9AE}" pid="5" name="MSIP_Label_a8c544ca-bb84-4280-906e-934547e1d30c_Name">
    <vt:lpwstr>Internal - General Use</vt:lpwstr>
  </property>
  <property fmtid="{D5CDD505-2E9C-101B-9397-08002B2CF9AE}" pid="6" name="MSIP_Label_a8c544ca-bb84-4280-906e-934547e1d30c_SiteId">
    <vt:lpwstr>258ac4e4-146a-411e-9dc8-79a9e12fd6da</vt:lpwstr>
  </property>
  <property fmtid="{D5CDD505-2E9C-101B-9397-08002B2CF9AE}" pid="7" name="MSIP_Label_a8c544ca-bb84-4280-906e-934547e1d30c_ActionId">
    <vt:lpwstr>38e365a7-9f95-433e-bc9f-671f90aadca1</vt:lpwstr>
  </property>
  <property fmtid="{D5CDD505-2E9C-101B-9397-08002B2CF9AE}" pid="8" name="MSIP_Label_a8c544ca-bb84-4280-906e-934547e1d30c_ContentBits">
    <vt:lpwstr>2</vt:lpwstr>
  </property>
  <property fmtid="{D5CDD505-2E9C-101B-9397-08002B2CF9AE}" pid="9" name="MSIP_Label_a8c544ca-bb84-4280-906e-934547e1d30c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Internal - General Use</vt:lpwstr>
  </property>
</Properties>
</file>